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274320"/>
            <a:ext cx="822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0" y="274320"/>
            <a:ext cx="822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274320"/>
            <a:ext cx="822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0" y="274320"/>
            <a:ext cx="822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0" y="1280160"/>
            <a:ext cx="822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0" y="1280160"/>
            <a:ext cx="822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1280160"/>
            <a:ext cx="822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0" y="1280160"/>
            <a:ext cx="822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32120" y="1280160"/>
            <a:ext cx="822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7960" y="1280160"/>
            <a:ext cx="822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43800" y="1280160"/>
            <a:ext cx="822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32120" y="2286000"/>
            <a:ext cx="822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2286000"/>
            <a:ext cx="822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43800" y="2286000"/>
            <a:ext cx="822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32120" y="3291840"/>
            <a:ext cx="822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37960" y="3291840"/>
            <a:ext cx="822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57200"/>
            <a:ext cx="2560320" cy="201168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572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GOLDMAN SACHS  ·  SRE PLATFORM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65760" y="9601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500" kern="0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AI-POWERED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365760" y="157276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300" kern="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INCIDENT HANDLING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365760" y="2231136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8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</a:t>
            </a:r>
            <a:endParaRPr lang="en-US" sz="4400" dirty="0"/>
          </a:p>
        </p:txBody>
      </p:sp>
      <p:sp>
        <p:nvSpPr>
          <p:cNvPr id="25" name="Shape 23"/>
          <p:cNvSpPr/>
          <p:nvPr/>
        </p:nvSpPr>
        <p:spPr>
          <a:xfrm>
            <a:off x="457200" y="3063240"/>
            <a:ext cx="8229600" cy="0"/>
          </a:xfrm>
          <a:prstGeom prst="line">
            <a:avLst/>
          </a:prstGeom>
          <a:noFill/>
          <a:ln w="6350">
            <a:solidFill>
              <a:srgbClr val="FDE6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ServiceNow  ·  AI Root Cause Analysis  ·  Automated Notifications  ·  Post-Incident Review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5760" y="4480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8-STAGE AUTOMATED WORKFLOW  ·  CLAUDE AI INTEGRATION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AI-Driven Incident Handling?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8016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80160"/>
            <a:ext cx="192024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25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⏱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0040" y="16916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MTTR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01168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coordination across teams causes delays in detection, escalation, and resolution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68880" y="128016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280160"/>
            <a:ext cx="192024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325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📢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468880" y="16916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Comms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201168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stakeholder notifications lead to misinformation and executive dissatisfaction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17720" y="128016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280160"/>
            <a:ext cx="192024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325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17720" y="16916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RCA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201168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 done manually post-incident, missing patterns across services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766560" y="128016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66560" y="1280160"/>
            <a:ext cx="192024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1325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766560" y="16916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Tribal Knowledge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0" y="201168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 scattered, undocumented fixes applied by few engineers create single points of failure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3108960"/>
            <a:ext cx="8503920" cy="54864"/>
          </a:xfrm>
          <a:prstGeom prst="rect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2004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 THE SOLUTION: AI-ORCHESTRATED INCIDENT LIFECYCLE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3611880"/>
            <a:ext cx="1920240" cy="1188720"/>
          </a:xfrm>
          <a:prstGeom prst="rect">
            <a:avLst/>
          </a:prstGeom>
          <a:solidFill>
            <a:srgbClr val="EEF2F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657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7706"/>
                </a:solidFill>
              </a:rPr>
              <a:t>✦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0040" y="39319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INC Creation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1480" y="42062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integration with AI-drafted summaries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468880" y="3611880"/>
            <a:ext cx="1920240" cy="1188720"/>
          </a:xfrm>
          <a:prstGeom prst="rect">
            <a:avLst/>
          </a:prstGeom>
          <a:solidFill>
            <a:srgbClr val="EEF2F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68880" y="3657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7706"/>
                </a:solidFill>
              </a:rPr>
              <a:t>✦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468880" y="39319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Notifications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560320" y="42062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stakeholder alerts with context-aware messaging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17720" y="3611880"/>
            <a:ext cx="1920240" cy="1188720"/>
          </a:xfrm>
          <a:prstGeom prst="rect">
            <a:avLst/>
          </a:prstGeom>
          <a:solidFill>
            <a:srgbClr val="EEF2F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3657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7706"/>
                </a:solidFill>
              </a:rPr>
              <a:t>✦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617720" y="39319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Root Cause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09160" y="42062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analyzes symptoms, logs &amp; changes to identify RCA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766560" y="3611880"/>
            <a:ext cx="1920240" cy="1188720"/>
          </a:xfrm>
          <a:prstGeom prst="rect">
            <a:avLst/>
          </a:prstGeom>
          <a:solidFill>
            <a:srgbClr val="EEF2F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66560" y="3657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7706"/>
                </a:solidFill>
              </a:rPr>
              <a:t>✦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766560" y="39319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Resolution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58000" y="42062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runbooks, rollback procedures &amp; PIR docs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 PIPELINE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End-to-End 8-Stage Lifecycle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1097280"/>
            <a:ext cx="987552" cy="749808"/>
          </a:xfrm>
          <a:prstGeom prst="rect">
            <a:avLst/>
          </a:prstGeom>
          <a:solidFill>
            <a:srgbClr val="EEF2F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097280"/>
            <a:ext cx="987552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143000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92608" y="1298448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92608" y="1600200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50" kern="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ServiceNow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280160" y="141732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▶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367028" y="1097280"/>
            <a:ext cx="98755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67028" y="1143000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367028" y="1298448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367028" y="1600200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5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PagerDuty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354580" y="141732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▶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441448" y="1097280"/>
            <a:ext cx="98755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41448" y="1143000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441448" y="1298448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441448" y="1600200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5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 Teams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429000" y="141732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▶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515868" y="1097280"/>
            <a:ext cx="987552" cy="749808"/>
          </a:xfrm>
          <a:prstGeom prst="rect">
            <a:avLst/>
          </a:prstGeom>
          <a:solidFill>
            <a:srgbClr val="EEF2F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515868" y="1097280"/>
            <a:ext cx="987552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15868" y="1143000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515868" y="1298448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515868" y="1600200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50" kern="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AI/Claude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503420" y="141732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▶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90288" y="1097280"/>
            <a:ext cx="98755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90288" y="1143000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590288" y="1298448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90288" y="1600200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5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Engineering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577840" y="141732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▶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664708" y="1097280"/>
            <a:ext cx="98755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664708" y="1143000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664708" y="1298448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664708" y="1600200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5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Operations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652260" y="141732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▶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739128" y="1097280"/>
            <a:ext cx="98755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739128" y="1143000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739128" y="1298448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739128" y="1600200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5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Multi-channel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7726680" y="141732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▶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813548" y="1097280"/>
            <a:ext cx="987552" cy="749808"/>
          </a:xfrm>
          <a:prstGeom prst="rect">
            <a:avLst/>
          </a:prstGeom>
          <a:solidFill>
            <a:srgbClr val="EEF2F7"/>
          </a:solidFill>
          <a:ln w="19050">
            <a:solidFill>
              <a:srgbClr val="15803D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813548" y="1097280"/>
            <a:ext cx="987552" cy="3657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13548" y="1143000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7813548" y="1298448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813548" y="1600200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5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ServiceNow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292608" y="1920240"/>
            <a:ext cx="8558784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292608" y="2057400"/>
            <a:ext cx="8558784" cy="73152"/>
          </a:xfrm>
          <a:prstGeom prst="rect">
            <a:avLst/>
          </a:prstGeom>
          <a:solidFill>
            <a:srgbClr val="FDE68A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2608" y="2057400"/>
            <a:ext cx="8558784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150" kern="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 CLAUDE AI ASSISTS AT EVERY STAGE  —  ANALYSIS · DRAFTING · RUNBOOKS · POST-MORTEM GENERATION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292608" y="2286000"/>
            <a:ext cx="2203704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92608" y="2286000"/>
            <a:ext cx="2203704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2608" y="2322576"/>
            <a:ext cx="2203704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570732" y="2286000"/>
            <a:ext cx="3218688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570732" y="2286000"/>
            <a:ext cx="3218688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70732" y="2322576"/>
            <a:ext cx="3218688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252210" y="2286000"/>
            <a:ext cx="214884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15803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52210" y="2286000"/>
            <a:ext cx="2148840" cy="3657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52210" y="2322576"/>
            <a:ext cx="214884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92608" y="3246120"/>
            <a:ext cx="8558784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92608" y="3291840"/>
            <a:ext cx="8558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PERFORMANCE TARGETS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1097280" y="35661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5 min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1097280" y="40690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Detect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468880" y="3520440"/>
            <a:ext cx="0" cy="82296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0" y="35661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2 min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2743200" y="40690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Out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114800" y="3520440"/>
            <a:ext cx="0" cy="82296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389120" y="35661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AI-Assisted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4389120" y="40690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5760720" y="3520440"/>
            <a:ext cx="0" cy="82296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035040" y="35661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30 min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6035040" y="40690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MTTR (P1)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7406640" y="3520440"/>
            <a:ext cx="0" cy="82296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680960" y="35661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</a:t>
            </a:r>
            <a:endParaRPr lang="en-US" sz="1800" dirty="0"/>
          </a:p>
        </p:txBody>
      </p:sp>
      <p:sp>
        <p:nvSpPr>
          <p:cNvPr id="75" name="Text 73"/>
          <p:cNvSpPr/>
          <p:nvPr/>
        </p:nvSpPr>
        <p:spPr>
          <a:xfrm>
            <a:off x="7680960" y="40690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Generation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36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Design &amp; Integrations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SIGNALS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64592" y="1261872"/>
            <a:ext cx="16916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261872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 Alert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64592" y="1810512"/>
            <a:ext cx="16916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" y="1810512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64592" y="2359152"/>
            <a:ext cx="16916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" y="2359152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Monitor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64592" y="2907792"/>
            <a:ext cx="16916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" y="2907792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Report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64592" y="3456432"/>
            <a:ext cx="16916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" y="3456432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Complaint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856232" y="2450592"/>
            <a:ext cx="50292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40280" y="23774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68880" y="1005840"/>
            <a:ext cx="4206240" cy="3794760"/>
          </a:xfrm>
          <a:prstGeom prst="rect">
            <a:avLst/>
          </a:prstGeom>
          <a:solidFill>
            <a:srgbClr val="EEF2F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468880" y="1005840"/>
            <a:ext cx="420624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0" y="10515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 AI ORCHESTRATION ENGINE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68880" y="13258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36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AI (claude-sonnet-4)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606040" y="1645920"/>
            <a:ext cx="19019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06040" y="1700784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Classifier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06040" y="1965960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Severity, service, impact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636008" y="1645920"/>
            <a:ext cx="19019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36008" y="1700784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Engine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36008" y="1965960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matching, log analysis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606040" y="2404872"/>
            <a:ext cx="19019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06040" y="2459736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Generator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606040" y="2724912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AI-authored fix procedures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636008" y="2404872"/>
            <a:ext cx="19019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36008" y="2459736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Comms Drafter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36008" y="2724912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Exec, tech &amp; customer-facing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606040" y="3163824"/>
            <a:ext cx="19019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06040" y="321868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Automation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606040" y="3483864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Post-incident review docs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636008" y="3163824"/>
            <a:ext cx="19019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36008" y="321868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Router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36008" y="3483864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progression logic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468880" y="4370832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 API  ·  claude-sonnet-4-20250514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468880" y="4572000"/>
            <a:ext cx="4206240" cy="36576"/>
          </a:xfrm>
          <a:prstGeom prst="rect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68880" y="460857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FRONTEND  ·  FLASK API BACKEND  ·  GOOGLE CLOUD RUN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995160" y="10241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CHANNELS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7287768" y="1261872"/>
            <a:ext cx="171907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87768" y="1261872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INC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287768" y="1810512"/>
            <a:ext cx="171907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87768" y="1810512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 Alert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287768" y="2359152"/>
            <a:ext cx="171907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0369A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87768" y="2359152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Teams Channel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287768" y="2907792"/>
            <a:ext cx="171907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87768" y="2907792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Twilio SMS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287768" y="3456432"/>
            <a:ext cx="171907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0369A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87768" y="3456432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Page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675120" y="2450592"/>
            <a:ext cx="502920" cy="0"/>
          </a:xfrm>
          <a:prstGeom prst="line">
            <a:avLst/>
          </a:prstGeom>
          <a:noFill/>
          <a:ln w="19050">
            <a:solidFill>
              <a:srgbClr val="15803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50024" y="23774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803D"/>
                </a:solidFill>
              </a:rPr>
              <a:t>▶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DETAIL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Detection, Notification &amp; Root Cause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051560"/>
            <a:ext cx="201168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51560"/>
            <a:ext cx="201168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1155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56032" y="13167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INC Creation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" y="16002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ServiceNow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1847088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38528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Form: title, service, severity, environment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2304288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structured INC summary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2670048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scoring &amp; assignment group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3035808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auto-created in ServiceNow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3520440"/>
            <a:ext cx="1792224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566160"/>
            <a:ext cx="1792224" cy="1188720"/>
          </a:xfrm>
          <a:prstGeom prst="rect">
            <a:avLst/>
          </a:prstGeom>
          <a:solidFill>
            <a:srgbClr val="F0F4F8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611880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AI ASSIST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20624" y="3822192"/>
            <a:ext cx="168249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professional INC summary with impact &amp; urgency scoring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459736" y="1051560"/>
            <a:ext cx="201168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459736" y="1051560"/>
            <a:ext cx="2011680" cy="457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59736" y="11155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36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459736" y="13167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Stakeholder Alert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459736" y="16002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36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PagerDuty / Email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1847088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9464" y="1938528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leadership notified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69464" y="2304288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product stakeholders alerted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569464" y="2670048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SRE paged via PagerDuty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569464" y="3035808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ETR communicated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69464" y="3520440"/>
            <a:ext cx="1792224" cy="3657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9464" y="3566160"/>
            <a:ext cx="1792224" cy="1188720"/>
          </a:xfrm>
          <a:prstGeom prst="rect">
            <a:avLst/>
          </a:prstGeom>
          <a:solidFill>
            <a:srgbClr val="F0F4F8"/>
          </a:solidFill>
          <a:ln w="6350">
            <a:solidFill>
              <a:srgbClr val="0369A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9464" y="3611880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036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AI ASSIST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624328" y="3822192"/>
            <a:ext cx="168249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3-line exec summary + business impact statement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663440" y="1051560"/>
            <a:ext cx="201168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1051560"/>
            <a:ext cx="2011680" cy="457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11155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663440" y="13167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SRE Channel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663440" y="16002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 Teams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7200" y="1847088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73168" y="1938528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room bridge created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773168" y="2304288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IC, Comms Lead, Tech Lead assigned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773168" y="2670048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Teams/Slack message posted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773168" y="3035808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15-min action plan shared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73168" y="3520440"/>
            <a:ext cx="1792224" cy="3657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73168" y="3566160"/>
            <a:ext cx="1792224" cy="1188720"/>
          </a:xfrm>
          <a:prstGeom prst="rect">
            <a:avLst/>
          </a:prstGeom>
          <a:solidFill>
            <a:srgbClr val="F0F4F8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73168" y="3611880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AI ASSIST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828032" y="3822192"/>
            <a:ext cx="168249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war room brief with hypothesis and investigation focus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867144" y="1051560"/>
            <a:ext cx="201168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867144" y="1051560"/>
            <a:ext cx="201168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67144" y="11155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004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867144" y="13167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Root Cause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867144" y="16002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Analysis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57200" y="1847088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76872" y="1938528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&amp; metrics logged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976872" y="2304288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changes captured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976872" y="2670048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performs structured RCA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976872" y="3035808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+ evidence validated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976872" y="3520440"/>
            <a:ext cx="1792224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976872" y="3566160"/>
            <a:ext cx="1792224" cy="1188720"/>
          </a:xfrm>
          <a:prstGeom prst="rect">
            <a:avLst/>
          </a:prstGeom>
          <a:solidFill>
            <a:srgbClr val="F0F4F8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76872" y="3611880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AI ASSIST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7031736" y="3822192"/>
            <a:ext cx="168249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identifies root cause, contributing factors &amp; diagnostic commands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DETAIL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Fix, Mitigation &amp; Resolution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051560"/>
            <a:ext cx="201168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51560"/>
            <a:ext cx="2011680" cy="457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1155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36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56032" y="13167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Fix Implement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" y="16002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36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Engineering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1847088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38528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type selected (hotfix/rollback/config)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2304288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change raised via CAB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2670048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step-by-step runbook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3035808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plan documented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3520440"/>
            <a:ext cx="1792224" cy="3657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566160"/>
            <a:ext cx="1792224" cy="1188720"/>
          </a:xfrm>
          <a:prstGeom prst="rect">
            <a:avLst/>
          </a:prstGeom>
          <a:solidFill>
            <a:srgbClr val="F0F4F8"/>
          </a:solidFill>
          <a:ln w="6350">
            <a:solidFill>
              <a:srgbClr val="0369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611880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036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AI ASSIST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20624" y="3822192"/>
            <a:ext cx="168249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runbook with risk assessment, execution steps &amp; rollback procedure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459736" y="1051560"/>
            <a:ext cx="201168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459736" y="1051560"/>
            <a:ext cx="2011680" cy="457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59736" y="11155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459736" y="13167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Mitigation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459736" y="16002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1847088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9464" y="1938528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rates return to baseline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69464" y="2304288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within SLA thresholds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569464" y="2670048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pods/services healthy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569464" y="3035808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verified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69464" y="3520440"/>
            <a:ext cx="1792224" cy="3657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9464" y="3566160"/>
            <a:ext cx="1792224" cy="1188720"/>
          </a:xfrm>
          <a:prstGeom prst="rect">
            <a:avLst/>
          </a:prstGeom>
          <a:solidFill>
            <a:srgbClr val="F0F4F8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9464" y="3611880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AI ASSIST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624328" y="3822192"/>
            <a:ext cx="168249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provides mitigation verification checklist with specific metrics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663440" y="1051560"/>
            <a:ext cx="201168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1051560"/>
            <a:ext cx="201168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11155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663440" y="13167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Stakeholder Comms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663440" y="16002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Multi-channel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7200" y="1847088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73168" y="1938528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page updated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773168" y="2304288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 sent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773168" y="2670048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update posted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773168" y="3035808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All-hands update if needed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73168" y="3520440"/>
            <a:ext cx="1792224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73168" y="3566160"/>
            <a:ext cx="1792224" cy="1188720"/>
          </a:xfrm>
          <a:prstGeom prst="rect">
            <a:avLst/>
          </a:prstGeom>
          <a:solidFill>
            <a:srgbClr val="F0F4F8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73168" y="3611880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AI ASSIST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828032" y="3822192"/>
            <a:ext cx="168249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Executive Brief, Customer Update, Regulatory Notice templates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867144" y="1051560"/>
            <a:ext cx="201168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867144" y="1051560"/>
            <a:ext cx="2011680" cy="457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67144" y="11155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867144" y="13167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Resolution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867144" y="16002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ServiceNow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57200" y="1847088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76872" y="1938528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 closed in ServiceNow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976872" y="2304288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recorded &amp; benchmarked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976872" y="2670048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full PIR / Post-Mortem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976872" y="3035808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tracked to closure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976872" y="3520440"/>
            <a:ext cx="1792224" cy="3657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976872" y="3566160"/>
            <a:ext cx="1792224" cy="1188720"/>
          </a:xfrm>
          <a:prstGeom prst="rect">
            <a:avLst/>
          </a:prstGeom>
          <a:solidFill>
            <a:srgbClr val="F0F4F8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76872" y="3611880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AI ASSIST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7031736" y="3822192"/>
            <a:ext cx="168249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creates blameless PIR: timeline, RCA, action items, SLO impact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36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CAPABILITIES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AI at Every Stage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228600"/>
            <a:ext cx="2286000" cy="594360"/>
          </a:xfrm>
          <a:prstGeom prst="rect">
            <a:avLst/>
          </a:prstGeom>
          <a:solidFill>
            <a:srgbClr val="EEF2F7"/>
          </a:solidFill>
          <a:ln w="10160">
            <a:solidFill>
              <a:srgbClr val="0369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24688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583680" y="429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claude-sonnet-4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05156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51560"/>
            <a:ext cx="45720" cy="1783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1143000"/>
            <a:ext cx="1161288" cy="20116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143000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 CREATION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4048" y="138074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Summarization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165506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raw incident inputs to produce structured ServiceNow ticket content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84048" y="202082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urgency score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84048" y="22174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group recommendation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84048" y="241401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response checklist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84048" y="261061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ticket summary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172968" y="105156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72968" y="1051560"/>
            <a:ext cx="45720" cy="17830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82696" y="1143000"/>
            <a:ext cx="1083564" cy="20116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2" name="Text 20"/>
          <p:cNvSpPr/>
          <p:nvPr/>
        </p:nvSpPr>
        <p:spPr>
          <a:xfrm>
            <a:off x="3282696" y="1143000"/>
            <a:ext cx="10835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SRE CHANNEL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282696" y="138074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Room Briefing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82696" y="165506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technical war room communications for SRE leads with immediate action plan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282696" y="202082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context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82696" y="22174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hypotheses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282696" y="241401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assignments (IC/Comms/Tech)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82696" y="261061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15-minute action plan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71616" y="105156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71616" y="1051560"/>
            <a:ext cx="45720" cy="1783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81344" y="1143000"/>
            <a:ext cx="1005840" cy="20116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32" name="Text 30"/>
          <p:cNvSpPr/>
          <p:nvPr/>
        </p:nvSpPr>
        <p:spPr>
          <a:xfrm>
            <a:off x="6181344" y="11430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CAUSE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181344" y="138074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Root Cause Analysis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81344" y="165506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analysis of symptoms, recent changes, and metric patterns to identify root cause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81344" y="202082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likely root cause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81344" y="22174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Contributing factors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181344" y="241401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commands to run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81344" y="261061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validation checklist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4320" y="2990088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2990088"/>
            <a:ext cx="45720" cy="17830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4048" y="3081528"/>
            <a:ext cx="1239012" cy="20116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42" name="Text 40"/>
          <p:cNvSpPr/>
          <p:nvPr/>
        </p:nvSpPr>
        <p:spPr>
          <a:xfrm>
            <a:off x="384048" y="3081528"/>
            <a:ext cx="12390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036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 &amp; RUNBOOK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84048" y="33192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Generation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84048" y="35935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detailed, safe fix procedures tailored to the specific incident type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84048" y="395935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fix runbook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84048" y="415594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matrix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84048" y="435254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procedure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84048" y="45491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test steps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172968" y="2990088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172968" y="2990088"/>
            <a:ext cx="45720" cy="1783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82696" y="3081528"/>
            <a:ext cx="1549908" cy="20116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52" name="Text 50"/>
          <p:cNvSpPr/>
          <p:nvPr/>
        </p:nvSpPr>
        <p:spPr>
          <a:xfrm>
            <a:off x="3282696" y="3081528"/>
            <a:ext cx="15499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STAKEHOLDER COMMS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282696" y="33192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Multi-Audience Drafting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282696" y="35935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audience-appropriate communications from a single incident context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282696" y="395935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282696" y="415594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update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282696" y="435254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page content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3282696" y="45491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notice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071616" y="2990088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071616" y="2990088"/>
            <a:ext cx="45720" cy="17830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181344" y="3081528"/>
            <a:ext cx="1005840" cy="20116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62" name="Text 60"/>
          <p:cNvSpPr/>
          <p:nvPr/>
        </p:nvSpPr>
        <p:spPr>
          <a:xfrm>
            <a:off x="6181344" y="30815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RESOLUTION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6181344" y="33192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Post-Incident Review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181344" y="35935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comprehensive blameless PIR document upon incident closure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181344" y="395935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timeline reconstruction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181344" y="415594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with owners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181344" y="435254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impact analysis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181344" y="45491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measures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TECHNOLOGY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Integrations &amp; Infrastructure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2651760" cy="3657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2471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36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99032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630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179222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12140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pipeline UI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245059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incident timeline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72968" y="105156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72968" y="1051560"/>
            <a:ext cx="265176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72968" y="112471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1399032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14630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/ Python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10128" y="179222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10128" y="212140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10128" y="245059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state machine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71616" y="105156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71616" y="1051560"/>
            <a:ext cx="2651760" cy="3657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71616" y="112471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ENGINE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1399032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08776" y="14630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API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08776" y="179222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claude-sonnet-4-20250514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08776" y="212140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accumulation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08776" y="245059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Multi-prompt chaining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2990088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2990088"/>
            <a:ext cx="265176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0632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 MGMT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3375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40156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REST API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11480" y="373075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 create / update / close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11480" y="405993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workflows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11480" y="43891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 integration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172968" y="2990088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172968" y="2990088"/>
            <a:ext cx="265176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72968" y="30632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33375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10128" y="340156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 Events API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310128" y="373075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SMS alerts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310128" y="405993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Teams webhooks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310128" y="43891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(SendGrid)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071616" y="2990088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071616" y="2990088"/>
            <a:ext cx="2651760" cy="3657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71616" y="30632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36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" y="33375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08776" y="340156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Run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208776" y="373075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Scheduler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208776" y="405993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Manager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208776" y="43891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Build CI/CD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 OUTCOMES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&amp; Operational Impact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1828800" cy="1280160"/>
          </a:xfrm>
          <a:prstGeom prst="rect">
            <a:avLst/>
          </a:prstGeom>
          <a:solidFill>
            <a:srgbClr val="EEF2F7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1828800" cy="457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4300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580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18013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1051560"/>
            <a:ext cx="1828800" cy="1280160"/>
          </a:xfrm>
          <a:prstGeom prst="rect">
            <a:avLst/>
          </a:prstGeom>
          <a:solidFill>
            <a:srgbClr val="EEF2F7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051560"/>
            <a:ext cx="1828800" cy="457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14300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369A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514600" y="18013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1051560"/>
            <a:ext cx="1828800" cy="1280160"/>
          </a:xfrm>
          <a:prstGeom prst="rect">
            <a:avLst/>
          </a:prstGeom>
          <a:solidFill>
            <a:srgbClr val="EEF2F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051560"/>
            <a:ext cx="18288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14300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2hr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572000" y="18013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Target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29400" y="1051560"/>
            <a:ext cx="1828800" cy="1280160"/>
          </a:xfrm>
          <a:prstGeom prst="rect">
            <a:avLst/>
          </a:prstGeom>
          <a:solidFill>
            <a:srgbClr val="EEF2F7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29400" y="1051560"/>
            <a:ext cx="1828800" cy="457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114300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580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629400" y="18013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PIR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487168"/>
            <a:ext cx="4206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487168"/>
            <a:ext cx="45720" cy="71323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25603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Process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" y="28346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incident handled consistently through the 8-stage workflow regardless of who is on-call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3291840"/>
            <a:ext cx="4206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291840"/>
            <a:ext cx="45720" cy="71323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33649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Cognitive Load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" y="363931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focus on fixing problems, not writing communications or searching for runbook templates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4096512"/>
            <a:ext cx="4206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4096512"/>
            <a:ext cx="45720" cy="71323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" y="4169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Knowledge Capture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" y="444398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incident generates structured RCA and PIR, building an organizational knowledge base over time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00600" y="2487168"/>
            <a:ext cx="4206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0600" y="2487168"/>
            <a:ext cx="45720" cy="71323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65192" y="25603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Stakeholder Trust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65192" y="28346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professional communications at every stage maintain leadership confidence during incidents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00600" y="3291840"/>
            <a:ext cx="4206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00600" y="3291840"/>
            <a:ext cx="45720" cy="71323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65192" y="33649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Improvement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65192" y="363931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trends, recurring root causes, and action item tracking drive continuous reliability improvement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800600" y="4096512"/>
            <a:ext cx="4206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00600" y="4096512"/>
            <a:ext cx="45720" cy="71323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65192" y="4169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Ready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965192" y="444398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with timestamped actions, stakeholder notifications, and resolution documentation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274320"/>
            <a:ext cx="804672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274320"/>
            <a:ext cx="804672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274320"/>
            <a:ext cx="804672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274320"/>
            <a:ext cx="804672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1188720"/>
            <a:ext cx="804672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188720"/>
            <a:ext cx="804672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1188720"/>
            <a:ext cx="804672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1188720"/>
            <a:ext cx="804672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2103120"/>
            <a:ext cx="804672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2103120"/>
            <a:ext cx="804672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0" y="2103120"/>
            <a:ext cx="804672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2103120"/>
            <a:ext cx="804672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731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100584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 &amp; Iterate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457200" y="169164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187452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Google Cloud Run (us-central1)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834640" y="187452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ServiceNow REST API credentials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244144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PagerDuty + MS Teams webhooks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834640" y="244144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 with simulated P1/P2 incidents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300837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SRE teams on 8-stage workflow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834640" y="300837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first 10 PIRs for AI quality tuning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4389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AI-POWERED INCIDENT HANDLING PLATFORM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47091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Goldman Sachs  ·  SRE Platform Engineering  · 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Incident Handling Platform</dc:title>
  <dc:subject>PptxGenJS Presentation</dc:subject>
  <dc:creator>Goldman Sachs SRE</dc:creator>
  <cp:lastModifiedBy>Goldman Sachs SRE</cp:lastModifiedBy>
  <cp:revision>1</cp:revision>
  <dcterms:created xsi:type="dcterms:W3CDTF">2026-03-05T14:43:32Z</dcterms:created>
  <dcterms:modified xsi:type="dcterms:W3CDTF">2026-03-05T14:43:32Z</dcterms:modified>
</cp:coreProperties>
</file>